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K Grotesk Bold" charset="1" panose="00000800000000000000"/>
      <p:regular r:id="rId17"/>
    </p:embeddedFont>
    <p:embeddedFont>
      <p:font typeface="HK Grotesk" charset="1" panose="00000500000000000000"/>
      <p:regular r:id="rId18"/>
    </p:embeddedFont>
    <p:embeddedFont>
      <p:font typeface="Heading Now 71-78 Bold" charset="1" panose="00000000000000000000"/>
      <p:regular r:id="rId19"/>
    </p:embeddedFont>
    <p:embeddedFont>
      <p:font typeface="Open Sauce" charset="1" panose="00000500000000000000"/>
      <p:regular r:id="rId20"/>
    </p:embeddedFont>
    <p:embeddedFont>
      <p:font typeface="Open Sauce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https://github.com/Abdalla820" TargetMode="External" Type="http://schemas.openxmlformats.org/officeDocument/2006/relationships/hyperlink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https://linkedin.com/in/abdalla-mohamed-farouk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642464"/>
            <a:ext cx="6286542" cy="7018582"/>
            <a:chOff x="0" y="0"/>
            <a:chExt cx="8382055" cy="9358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55" cy="8951710"/>
            </a:xfrm>
            <a:custGeom>
              <a:avLst/>
              <a:gdLst/>
              <a:ahLst/>
              <a:cxnLst/>
              <a:rect r="r" b="b" t="t" l="l"/>
              <a:pathLst>
                <a:path h="8951710" w="8382055">
                  <a:moveTo>
                    <a:pt x="0" y="0"/>
                  </a:moveTo>
                  <a:lnTo>
                    <a:pt x="8382055" y="0"/>
                  </a:lnTo>
                  <a:lnTo>
                    <a:pt x="8382055" y="8951710"/>
                  </a:lnTo>
                  <a:lnTo>
                    <a:pt x="0" y="8951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461621"/>
              <a:ext cx="3308473" cy="3896489"/>
            </a:xfrm>
            <a:custGeom>
              <a:avLst/>
              <a:gdLst/>
              <a:ahLst/>
              <a:cxnLst/>
              <a:rect r="r" b="b" t="t" l="l"/>
              <a:pathLst>
                <a:path h="3896489" w="3308473">
                  <a:moveTo>
                    <a:pt x="0" y="0"/>
                  </a:moveTo>
                  <a:lnTo>
                    <a:pt x="3308473" y="0"/>
                  </a:lnTo>
                  <a:lnTo>
                    <a:pt x="3308473" y="3896489"/>
                  </a:lnTo>
                  <a:lnTo>
                    <a:pt x="0" y="38964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5865" y="3037913"/>
            <a:ext cx="9033435" cy="4211174"/>
            <a:chOff x="0" y="0"/>
            <a:chExt cx="12044580" cy="561489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21008"/>
              <a:ext cx="12044580" cy="3260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22A9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Fr</a:t>
              </a:r>
              <a:r>
                <a:rPr lang="en-US" sz="8000" b="true">
                  <a:solidFill>
                    <a:srgbClr val="222A9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om raw data to business decisions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036203"/>
              <a:ext cx="10246721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</a:t>
              </a:r>
              <a:r>
                <a:rPr lang="en-US" sz="2600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ith Python and Power BI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11533768" cy="6855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39"/>
                </a:lnSpc>
                <a:spcBef>
                  <a:spcPct val="0"/>
                </a:spcBef>
              </a:pPr>
              <a:r>
                <a:rPr lang="en-US" sz="3099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E-Commerc</a:t>
              </a:r>
              <a:r>
                <a:rPr lang="en-US" sz="3099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Sales Analysis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225865" y="8909050"/>
            <a:ext cx="360352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Presented By Abdalla Mohamed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22A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2632806"/>
            <a:ext cx="7658100" cy="5021387"/>
            <a:chOff x="0" y="0"/>
            <a:chExt cx="2016948" cy="13225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6948" cy="1322505"/>
            </a:xfrm>
            <a:custGeom>
              <a:avLst/>
              <a:gdLst/>
              <a:ahLst/>
              <a:cxnLst/>
              <a:rect r="r" b="b" t="t" l="l"/>
              <a:pathLst>
                <a:path h="1322505" w="2016948">
                  <a:moveTo>
                    <a:pt x="50547" y="0"/>
                  </a:moveTo>
                  <a:lnTo>
                    <a:pt x="1966401" y="0"/>
                  </a:lnTo>
                  <a:cubicBezTo>
                    <a:pt x="1979807" y="0"/>
                    <a:pt x="1992664" y="5326"/>
                    <a:pt x="2002143" y="14805"/>
                  </a:cubicBezTo>
                  <a:cubicBezTo>
                    <a:pt x="2011623" y="24284"/>
                    <a:pt x="2016948" y="37141"/>
                    <a:pt x="2016948" y="50547"/>
                  </a:cubicBezTo>
                  <a:lnTo>
                    <a:pt x="2016948" y="1271958"/>
                  </a:lnTo>
                  <a:cubicBezTo>
                    <a:pt x="2016948" y="1285364"/>
                    <a:pt x="2011623" y="1298221"/>
                    <a:pt x="2002143" y="1307700"/>
                  </a:cubicBezTo>
                  <a:cubicBezTo>
                    <a:pt x="1992664" y="1317180"/>
                    <a:pt x="1979807" y="1322505"/>
                    <a:pt x="1966401" y="1322505"/>
                  </a:cubicBezTo>
                  <a:lnTo>
                    <a:pt x="50547" y="1322505"/>
                  </a:lnTo>
                  <a:cubicBezTo>
                    <a:pt x="37141" y="1322505"/>
                    <a:pt x="24284" y="1317180"/>
                    <a:pt x="14805" y="1307700"/>
                  </a:cubicBezTo>
                  <a:cubicBezTo>
                    <a:pt x="5326" y="1298221"/>
                    <a:pt x="0" y="1285364"/>
                    <a:pt x="0" y="1271958"/>
                  </a:cubicBezTo>
                  <a:lnTo>
                    <a:pt x="0" y="50547"/>
                  </a:lnTo>
                  <a:cubicBezTo>
                    <a:pt x="0" y="37141"/>
                    <a:pt x="5326" y="24284"/>
                    <a:pt x="14805" y="14805"/>
                  </a:cubicBezTo>
                  <a:cubicBezTo>
                    <a:pt x="24284" y="5326"/>
                    <a:pt x="37141" y="0"/>
                    <a:pt x="50547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16948" cy="1360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81727" y="4614862"/>
            <a:ext cx="518623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Problem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74100" y="2761906"/>
            <a:ext cx="6797899" cy="5820462"/>
            <a:chOff x="0" y="0"/>
            <a:chExt cx="9063866" cy="776061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80975"/>
              <a:ext cx="9063866" cy="1471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7123" indent="-258561" lvl="1">
                <a:lnSpc>
                  <a:spcPts val="4790"/>
                </a:lnSpc>
                <a:buFont typeface="Arial"/>
                <a:buChar char="•"/>
              </a:pP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Raw sal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es data is 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me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ssy: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du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licat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s, m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ssing valu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s, outli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436575"/>
              <a:ext cx="9063866" cy="2278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7123" indent="-258561" lvl="1">
                <a:lnSpc>
                  <a:spcPts val="4790"/>
                </a:lnSpc>
                <a:buFont typeface="Arial"/>
                <a:buChar char="•"/>
              </a:pP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Dashboards describe what happened, but the business also needs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 know why a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nd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what’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</a:t>
              </a:r>
              <a:r>
                <a:rPr lang="en-US" sz="2395">
                  <a:solidFill>
                    <a:srgbClr val="41404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next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861510"/>
              <a:ext cx="9063866" cy="2278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0"/>
                </a:lnSpc>
              </a:pPr>
              <a:r>
                <a:rPr lang="en-US" sz="2395" b="true">
                  <a:solidFill>
                    <a:srgbClr val="222A9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Goal</a:t>
              </a:r>
              <a:r>
                <a:rPr lang="en-US" sz="2395" b="true">
                  <a:solidFill>
                    <a:srgbClr val="41404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: clean the data, test business questions statistically, forecast revenue, and report it in Power BI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096838"/>
              <a:ext cx="73096" cy="663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05327" y="2861499"/>
            <a:ext cx="7179160" cy="5064571"/>
          </a:xfrm>
          <a:custGeom>
            <a:avLst/>
            <a:gdLst/>
            <a:ahLst/>
            <a:cxnLst/>
            <a:rect r="r" b="b" t="t" l="l"/>
            <a:pathLst>
              <a:path h="5064571" w="7179160">
                <a:moveTo>
                  <a:pt x="0" y="0"/>
                </a:moveTo>
                <a:lnTo>
                  <a:pt x="7179160" y="0"/>
                </a:lnTo>
                <a:lnTo>
                  <a:pt x="7179160" y="5064571"/>
                </a:lnTo>
                <a:lnTo>
                  <a:pt x="0" y="50645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692857"/>
            <a:ext cx="81153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6999">
                <a:solidFill>
                  <a:srgbClr val="222A9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Data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923790"/>
            <a:ext cx="8267567" cy="410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414042"/>
                </a:solidFill>
                <a:latin typeface="HK Grotesk"/>
                <a:ea typeface="HK Grotesk"/>
                <a:cs typeface="HK Grotesk"/>
                <a:sym typeface="HK Grotesk"/>
              </a:rPr>
              <a:t>5,000 </a:t>
            </a:r>
            <a:r>
              <a:rPr lang="en-US" sz="2600">
                <a:solidFill>
                  <a:srgbClr val="414042"/>
                </a:solidFill>
                <a:latin typeface="HK Grotesk"/>
                <a:ea typeface="HK Grotesk"/>
                <a:cs typeface="HK Grotesk"/>
                <a:sym typeface="HK Grotesk"/>
              </a:rPr>
              <a:t>orders, 14 columns, October 2023 to October 2025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414042"/>
                </a:solidFill>
                <a:latin typeface="HK Grotesk"/>
                <a:ea typeface="HK Grotesk"/>
                <a:cs typeface="HK Grotesk"/>
                <a:sym typeface="HK Grotesk"/>
              </a:rPr>
              <a:t>Fields: order date, region, category, product, quantity, unit price, discount, sales, profit, payment mode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414042"/>
                </a:solidFill>
                <a:latin typeface="HK Grotesk"/>
                <a:ea typeface="HK Grotesk"/>
                <a:cs typeface="HK Grotesk"/>
                <a:sym typeface="HK Grotesk"/>
              </a:rPr>
              <a:t>Quali</a:t>
            </a:r>
            <a:r>
              <a:rPr lang="en-US" sz="2600">
                <a:solidFill>
                  <a:srgbClr val="414042"/>
                </a:solidFill>
                <a:latin typeface="HK Grotesk"/>
                <a:ea typeface="HK Grotesk"/>
                <a:cs typeface="HK Grotesk"/>
                <a:sym typeface="HK Grotesk"/>
              </a:rPr>
              <a:t>ty check: 0 duplicates, 0 missing values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414042"/>
                </a:solidFill>
                <a:latin typeface="HK Grotesk"/>
                <a:ea typeface="HK Grotesk"/>
                <a:cs typeface="HK Grotesk"/>
                <a:sym typeface="HK Grotesk"/>
              </a:rPr>
              <a:t>Added features: profit margin, discount group, order-value tier</a:t>
            </a:r>
          </a:p>
          <a:p>
            <a:pPr algn="l">
              <a:lnSpc>
                <a:spcPts val="364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622270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rtl="true">
              <a:lnSpc>
                <a:spcPts val="1960"/>
              </a:lnSpc>
              <a:spcBef>
                <a:spcPct val="0"/>
              </a:spcBef>
            </a:pPr>
            <a:r>
              <a:rPr lang="ar-EG" b="true" sz="1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  <a:rtl val="true"/>
              </a:rPr>
              <a:t>صفحة </a:t>
            </a:r>
            <a:r>
              <a:rPr lang="en-US" b="true" sz="1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96008" y="0"/>
            <a:ext cx="9540008" cy="10287000"/>
            <a:chOff x="0" y="0"/>
            <a:chExt cx="25125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25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12595">
                  <a:moveTo>
                    <a:pt x="40576" y="0"/>
                  </a:moveTo>
                  <a:lnTo>
                    <a:pt x="2472019" y="0"/>
                  </a:lnTo>
                  <a:cubicBezTo>
                    <a:pt x="2494428" y="0"/>
                    <a:pt x="2512595" y="18167"/>
                    <a:pt x="2512595" y="40576"/>
                  </a:cubicBezTo>
                  <a:lnTo>
                    <a:pt x="2512595" y="2668757"/>
                  </a:lnTo>
                  <a:cubicBezTo>
                    <a:pt x="2512595" y="2679519"/>
                    <a:pt x="2508320" y="2689839"/>
                    <a:pt x="2500710" y="2697449"/>
                  </a:cubicBezTo>
                  <a:cubicBezTo>
                    <a:pt x="2493101" y="2705058"/>
                    <a:pt x="2482780" y="2709333"/>
                    <a:pt x="2472019" y="2709333"/>
                  </a:cubicBezTo>
                  <a:lnTo>
                    <a:pt x="40576" y="2709333"/>
                  </a:lnTo>
                  <a:cubicBezTo>
                    <a:pt x="18167" y="2709333"/>
                    <a:pt x="0" y="2691167"/>
                    <a:pt x="0" y="2668757"/>
                  </a:cubicBezTo>
                  <a:lnTo>
                    <a:pt x="0" y="40576"/>
                  </a:lnTo>
                  <a:cubicBezTo>
                    <a:pt x="0" y="18167"/>
                    <a:pt x="18167" y="0"/>
                    <a:pt x="40576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125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1323" y="1998186"/>
            <a:ext cx="6105347" cy="4888976"/>
            <a:chOff x="0" y="0"/>
            <a:chExt cx="8140463" cy="651863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859217"/>
              <a:ext cx="8140463" cy="4659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Load and </a:t>
              </a:r>
              <a:r>
                <a:rPr lang="en-US" b="true" sz="21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inspect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Clean: remove duplicates, handle missing values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Engineer features: year, month, quarter, margin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Calculate KPIs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Test hypotheses: t-test, ANOVA, chi-square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Forecast: ARIMA/SARIMA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Report: Power BI dashboard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8140463" cy="1064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00"/>
                </a:lnSpc>
              </a:pPr>
              <a:r>
                <a:rPr lang="en-US" sz="5000" b="true">
                  <a:solidFill>
                    <a:srgbClr val="222A9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Pi</a:t>
              </a:r>
              <a:r>
                <a:rPr lang="en-US" b="true" sz="5000">
                  <a:solidFill>
                    <a:srgbClr val="222A9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peline </a:t>
              </a:r>
              <a:r>
                <a:rPr lang="en-US" b="true" sz="5000">
                  <a:solidFill>
                    <a:srgbClr val="E2941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768265" y="1998186"/>
            <a:ext cx="6105347" cy="4146026"/>
            <a:chOff x="0" y="0"/>
            <a:chExt cx="8140463" cy="552803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951417"/>
              <a:ext cx="8140463" cy="2576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</a:t>
              </a:r>
              <a:r>
                <a:rPr lang="en-US" b="true" sz="21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otal revenue: 533.7M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Total profit: 79.7M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Orders: 5,000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Average order value: 106,733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b="true" sz="2199">
                  <a:solidFill>
                    <a:srgbClr val="00000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Average profit margin: about 15%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8140463" cy="2156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00"/>
                </a:lnSpc>
              </a:pPr>
              <a:r>
                <a:rPr lang="en-US" sz="5000" b="true">
                  <a:solidFill>
                    <a:srgbClr val="222A9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Perf</a:t>
              </a:r>
              <a:r>
                <a:rPr lang="en-US" b="true" sz="5000">
                  <a:solidFill>
                    <a:srgbClr val="222A9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ormance </a:t>
              </a:r>
              <a:r>
                <a:rPr lang="en-US" b="true" sz="5000">
                  <a:solidFill>
                    <a:srgbClr val="E2941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Indi</a:t>
              </a:r>
              <a:r>
                <a:rPr lang="en-US" b="true" sz="5000">
                  <a:solidFill>
                    <a:srgbClr val="E2941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ca</a:t>
              </a:r>
              <a:r>
                <a:rPr lang="en-US" b="true" sz="5000">
                  <a:solidFill>
                    <a:srgbClr val="E2941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tors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259300" y="9622270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rtl="true">
              <a:lnSpc>
                <a:spcPts val="1960"/>
              </a:lnSpc>
              <a:spcBef>
                <a:spcPct val="0"/>
              </a:spcBef>
            </a:pPr>
            <a:r>
              <a:rPr lang="ar-EG" b="true" sz="1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  <a:rtl val="true"/>
              </a:rPr>
              <a:t>صفحة </a:t>
            </a:r>
            <a:r>
              <a:rPr lang="en-US" b="true" sz="1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2923" y="3299447"/>
            <a:ext cx="5156633" cy="4097179"/>
          </a:xfrm>
          <a:custGeom>
            <a:avLst/>
            <a:gdLst/>
            <a:ahLst/>
            <a:cxnLst/>
            <a:rect r="r" b="b" t="t" l="l"/>
            <a:pathLst>
              <a:path h="4097179" w="5156633">
                <a:moveTo>
                  <a:pt x="0" y="0"/>
                </a:moveTo>
                <a:lnTo>
                  <a:pt x="5156633" y="0"/>
                </a:lnTo>
                <a:lnTo>
                  <a:pt x="5156633" y="4097179"/>
                </a:lnTo>
                <a:lnTo>
                  <a:pt x="0" y="4097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0275" y="4733130"/>
            <a:ext cx="1703707" cy="2006507"/>
          </a:xfrm>
          <a:custGeom>
            <a:avLst/>
            <a:gdLst/>
            <a:ahLst/>
            <a:cxnLst/>
            <a:rect r="r" b="b" t="t" l="l"/>
            <a:pathLst>
              <a:path h="2006507" w="1703707">
                <a:moveTo>
                  <a:pt x="0" y="0"/>
                </a:moveTo>
                <a:lnTo>
                  <a:pt x="1703707" y="0"/>
                </a:lnTo>
                <a:lnTo>
                  <a:pt x="1703707" y="2006507"/>
                </a:lnTo>
                <a:lnTo>
                  <a:pt x="0" y="20065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381125"/>
            <a:ext cx="4310564" cy="163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000" b="true">
                <a:solidFill>
                  <a:srgbClr val="222A9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For</a:t>
            </a:r>
            <a:r>
              <a:rPr lang="en-US" b="true" sz="5000">
                <a:solidFill>
                  <a:srgbClr val="222A9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ecasting Approach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622270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rtl="true">
              <a:lnSpc>
                <a:spcPts val="1960"/>
              </a:lnSpc>
              <a:spcBef>
                <a:spcPct val="0"/>
              </a:spcBef>
            </a:pPr>
            <a:r>
              <a:rPr lang="ar-EG" b="true" sz="1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  <a:rtl val="true"/>
              </a:rPr>
              <a:t>صفحة </a:t>
            </a:r>
            <a:r>
              <a:rPr lang="en-US" b="true" sz="1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85363" y="971550"/>
            <a:ext cx="9690100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Weekly revenue, 103 complete weeks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ECF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Stationarity confirmed by ADF and KPSS tests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No trend (p = 0.94) and no calendar seasonality (p = 0.98)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ECF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Split: 80% train, 20% test, in time order</a:t>
            </a:r>
          </a:p>
          <a:p>
            <a:pPr algn="l" marL="604516" indent="-302258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Model:</a:t>
            </a:r>
            <a:r>
              <a:rPr lang="en-US" b="true" sz="27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SARIMA(2,0,0)×(0,0,1,13), chosen by training AIC</a:t>
            </a:r>
          </a:p>
          <a:p>
            <a:pPr algn="l" marL="604516" indent="-302258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FECF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Output includes a 95% prediction interval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2923" y="7626350"/>
            <a:ext cx="4310564" cy="163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000" b="true">
                <a:solidFill>
                  <a:srgbClr val="222A9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For</a:t>
            </a:r>
            <a:r>
              <a:rPr lang="en-US" b="true" sz="5000">
                <a:solidFill>
                  <a:srgbClr val="222A9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ecast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85363" y="6409805"/>
            <a:ext cx="11402637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Test error: RMSE about 1.25M, MAPE about 20%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FECF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95% </a:t>
            </a:r>
            <a:r>
              <a:rPr lang="en-US" b="true" sz="2799">
                <a:solidFill>
                  <a:srgbClr val="FECF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interval covered 90.5% of the test weeks, so the uncertainty is realistic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Next 12 weeks: about 5.1M </a:t>
            </a:r>
            <a:r>
              <a:rPr lang="en-US" b="true" sz="27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</a:t>
            </a:r>
            <a:r>
              <a:rPr lang="en-US" b="true" sz="27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er week,</a:t>
            </a:r>
            <a:r>
              <a:rPr lang="en-US" b="true" sz="27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b="true" sz="27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95</a:t>
            </a:r>
            <a:r>
              <a:rPr lang="en-US" b="true" sz="27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% ran</a:t>
            </a:r>
            <a:r>
              <a:rPr lang="en-US" b="true" sz="27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ge roughly</a:t>
            </a:r>
            <a:r>
              <a:rPr lang="en-US" b="true" sz="27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b="true" sz="27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3.1M</a:t>
            </a:r>
            <a:r>
              <a:rPr lang="en-US" b="true" sz="27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t</a:t>
            </a:r>
            <a:r>
              <a:rPr lang="en-US" b="true" sz="27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 7.2M</a:t>
            </a:r>
          </a:p>
          <a:p>
            <a:pPr algn="l" marL="604516" indent="-302258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FECF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Honest note: the model</a:t>
            </a:r>
            <a:r>
              <a:rPr lang="en-US" b="true" sz="2799">
                <a:solidFill>
                  <a:srgbClr val="FECF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is only marginally better than predicting the historical average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2930" y="0"/>
            <a:ext cx="11364190" cy="10287000"/>
            <a:chOff x="0" y="0"/>
            <a:chExt cx="29930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30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993038">
                  <a:moveTo>
                    <a:pt x="34063" y="0"/>
                  </a:moveTo>
                  <a:lnTo>
                    <a:pt x="2958975" y="0"/>
                  </a:lnTo>
                  <a:cubicBezTo>
                    <a:pt x="2968009" y="0"/>
                    <a:pt x="2976673" y="3589"/>
                    <a:pt x="2983061" y="9977"/>
                  </a:cubicBezTo>
                  <a:cubicBezTo>
                    <a:pt x="2989449" y="16365"/>
                    <a:pt x="2993038" y="25029"/>
                    <a:pt x="2993038" y="34063"/>
                  </a:cubicBezTo>
                  <a:lnTo>
                    <a:pt x="2993038" y="2675270"/>
                  </a:lnTo>
                  <a:cubicBezTo>
                    <a:pt x="2993038" y="2684305"/>
                    <a:pt x="2989449" y="2692969"/>
                    <a:pt x="2983061" y="2699357"/>
                  </a:cubicBezTo>
                  <a:cubicBezTo>
                    <a:pt x="2976673" y="2705745"/>
                    <a:pt x="2968009" y="2709333"/>
                    <a:pt x="2958975" y="2709333"/>
                  </a:cubicBezTo>
                  <a:lnTo>
                    <a:pt x="34063" y="2709333"/>
                  </a:lnTo>
                  <a:cubicBezTo>
                    <a:pt x="25029" y="2709333"/>
                    <a:pt x="16365" y="2705745"/>
                    <a:pt x="9977" y="2699357"/>
                  </a:cubicBezTo>
                  <a:cubicBezTo>
                    <a:pt x="3589" y="2692969"/>
                    <a:pt x="0" y="2684305"/>
                    <a:pt x="0" y="2675270"/>
                  </a:cubicBezTo>
                  <a:lnTo>
                    <a:pt x="0" y="34063"/>
                  </a:lnTo>
                  <a:cubicBezTo>
                    <a:pt x="0" y="25029"/>
                    <a:pt x="3589" y="16365"/>
                    <a:pt x="9977" y="9977"/>
                  </a:cubicBezTo>
                  <a:cubicBezTo>
                    <a:pt x="16365" y="3589"/>
                    <a:pt x="25029" y="0"/>
                    <a:pt x="340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9303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790644"/>
            <a:ext cx="5685627" cy="81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000" b="true">
                <a:solidFill>
                  <a:srgbClr val="222A9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Python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622270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rtl="true">
              <a:lnSpc>
                <a:spcPts val="1960"/>
              </a:lnSpc>
              <a:spcBef>
                <a:spcPct val="0"/>
              </a:spcBef>
            </a:pPr>
            <a:r>
              <a:rPr lang="ar-EG" b="true" sz="1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  <a:rtl val="true"/>
              </a:rPr>
              <a:t>صفحة </a:t>
            </a:r>
            <a:r>
              <a:rPr lang="en-US" b="true" sz="1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9425" y="3816825"/>
            <a:ext cx="6151741" cy="4777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This script does two things with</a:t>
            </a:r>
            <a:r>
              <a:rPr lang="en-US" b="true" sz="38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your e-commerce sales data:</a:t>
            </a:r>
          </a:p>
          <a:p>
            <a:pPr algn="l" marL="842000" indent="-421000" lvl="1">
              <a:lnSpc>
                <a:spcPts val="5459"/>
              </a:lnSpc>
              <a:spcBef>
                <a:spcPct val="0"/>
              </a:spcBef>
              <a:buAutoNum type="arabicPeriod" startAt="1"/>
            </a:pPr>
            <a:r>
              <a:rPr lang="en-US" sz="3899">
                <a:solidFill>
                  <a:srgbClr val="E29417"/>
                </a:solidFill>
                <a:latin typeface="HK Grotesk"/>
                <a:ea typeface="HK Grotesk"/>
                <a:cs typeface="HK Grotesk"/>
                <a:sym typeface="HK Grotesk"/>
              </a:rPr>
              <a:t>Tests business questions using statistics</a:t>
            </a:r>
          </a:p>
          <a:p>
            <a:pPr algn="l" marL="842000" indent="-421000" lvl="1">
              <a:lnSpc>
                <a:spcPts val="5459"/>
              </a:lnSpc>
              <a:spcBef>
                <a:spcPct val="0"/>
              </a:spcBef>
              <a:buAutoNum type="arabicPeriod" startAt="1"/>
            </a:pPr>
            <a:r>
              <a:rPr lang="en-US" sz="3899">
                <a:solidFill>
                  <a:srgbClr val="E29417"/>
                </a:solidFill>
                <a:latin typeface="HK Grotesk"/>
                <a:ea typeface="HK Grotesk"/>
                <a:cs typeface="HK Grotesk"/>
                <a:sym typeface="HK Grotesk"/>
              </a:rPr>
              <a:t>Predicts future sales using time-series models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73768" y="84399"/>
            <a:ext cx="8088809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ECF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Phase 1 — Testing Business Questions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It checks three things: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① Do discounts hurt sales or profit?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Compares high-discount orders vs low-discount orders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Tests both order value and profit margin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Tells you if the difference is real or</a:t>
            </a:r>
            <a:r>
              <a:rPr lang="en-US" sz="2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just random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② Do sales differ by region?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Compares average order value across all regions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If they differ, it tells you which regions differ from each other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③ Are category, region, and payment mode linked?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Checks if payment method depends on category, region, or order size</a:t>
            </a:r>
          </a:p>
          <a:p>
            <a:pPr algn="l" marL="431801" indent="-215900" lvl="1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Example: "Do high-value orders use a different payment method?"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Output: A summary table + one chart showing the key results.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080304" y="4967549"/>
            <a:ext cx="8275737" cy="554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FECF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Phase 2 — Predicting Future Sales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It builds a forecast of weekly revenue.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Steps it follows:</a:t>
            </a:r>
          </a:p>
          <a:p>
            <a:pPr algn="l" marL="431801" indent="-215900" lvl="1">
              <a:lnSpc>
                <a:spcPts val="3000"/>
              </a:lnSpc>
              <a:buAutoNum type="arabicPeriod" startAt="1"/>
            </a:pPr>
            <a:r>
              <a:rPr lang="en-US" sz="2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Group data into weekly totals</a:t>
            </a:r>
          </a:p>
          <a:p>
            <a:pPr algn="l" marL="431801" indent="-215900" lvl="1">
              <a:lnSpc>
                <a:spcPts val="3000"/>
              </a:lnSpc>
              <a:buAutoNum type="arabicPeriod" startAt="1"/>
            </a:pPr>
            <a:r>
              <a:rPr lang="en-US" sz="2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Check if the data is stable over time (stationarity check)</a:t>
            </a:r>
          </a:p>
          <a:p>
            <a:pPr algn="l" marL="431801" indent="-215900" lvl="1">
              <a:lnSpc>
                <a:spcPts val="3000"/>
              </a:lnSpc>
              <a:spcBef>
                <a:spcPct val="0"/>
              </a:spcBef>
              <a:buAutoNum type="arabicPeriod" startAt="1"/>
            </a:pPr>
            <a:r>
              <a:rPr lang="en-US" sz="2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Look at patterns — trend, seasonality, autocorrelation (makes</a:t>
            </a:r>
            <a:r>
              <a:rPr lang="en-US" sz="2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4 plots)</a:t>
            </a:r>
          </a:p>
          <a:p>
            <a:pPr algn="l" marL="431801" indent="-215900" lvl="1">
              <a:lnSpc>
                <a:spcPts val="3000"/>
              </a:lnSpc>
              <a:spcBef>
                <a:spcPct val="0"/>
              </a:spcBef>
              <a:buAutoNum type="arabicPeriod" startAt="1"/>
            </a:pPr>
            <a:r>
              <a:rPr lang="en-US" sz="2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Split data — 80% to train the model, 20% to test it</a:t>
            </a:r>
          </a:p>
          <a:p>
            <a:pPr algn="l" marL="431801" indent="-215900" lvl="1">
              <a:lnSpc>
                <a:spcPts val="3000"/>
              </a:lnSpc>
              <a:spcBef>
                <a:spcPct val="0"/>
              </a:spcBef>
              <a:buAutoNum type="arabicPeriod" startAt="1"/>
            </a:pPr>
            <a:r>
              <a:rPr lang="en-US" sz="2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Try many models — plain ARIMA and seasonal SARIMA, pick the best by AIC score</a:t>
            </a:r>
          </a:p>
          <a:p>
            <a:pPr algn="l" marL="431801" indent="-215900" lvl="1">
              <a:lnSpc>
                <a:spcPts val="3000"/>
              </a:lnSpc>
              <a:spcBef>
                <a:spcPct val="0"/>
              </a:spcBef>
              <a:buAutoNum type="arabicPeriod" startAt="1"/>
            </a:pPr>
            <a:r>
              <a:rPr lang="en-US" sz="2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Test the winner — compare its forecast against simple guesses (average, last value) using RMSE and MAPE</a:t>
            </a:r>
          </a:p>
          <a:p>
            <a:pPr algn="l" marL="431801" indent="-215900" lvl="1">
              <a:lnSpc>
                <a:spcPts val="3000"/>
              </a:lnSpc>
              <a:spcBef>
                <a:spcPct val="0"/>
              </a:spcBef>
              <a:buAutoNum type="arabicPeriod" startAt="1"/>
            </a:pPr>
            <a:r>
              <a:rPr lang="en-US" sz="20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Forecast the next 12 weeks using the best model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Output: Model comparison table + 2 forecast charts + future forecast CSV.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97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7677" y="0"/>
            <a:ext cx="9540008" cy="10287000"/>
            <a:chOff x="0" y="0"/>
            <a:chExt cx="25125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25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12595">
                  <a:moveTo>
                    <a:pt x="40576" y="0"/>
                  </a:moveTo>
                  <a:lnTo>
                    <a:pt x="2472019" y="0"/>
                  </a:lnTo>
                  <a:cubicBezTo>
                    <a:pt x="2494428" y="0"/>
                    <a:pt x="2512595" y="18167"/>
                    <a:pt x="2512595" y="40576"/>
                  </a:cubicBezTo>
                  <a:lnTo>
                    <a:pt x="2512595" y="2668757"/>
                  </a:lnTo>
                  <a:cubicBezTo>
                    <a:pt x="2512595" y="2679519"/>
                    <a:pt x="2508320" y="2689839"/>
                    <a:pt x="2500710" y="2697449"/>
                  </a:cubicBezTo>
                  <a:cubicBezTo>
                    <a:pt x="2493101" y="2705058"/>
                    <a:pt x="2482780" y="2709333"/>
                    <a:pt x="2472019" y="2709333"/>
                  </a:cubicBezTo>
                  <a:lnTo>
                    <a:pt x="40576" y="2709333"/>
                  </a:lnTo>
                  <a:cubicBezTo>
                    <a:pt x="18167" y="2709333"/>
                    <a:pt x="0" y="2691167"/>
                    <a:pt x="0" y="2668757"/>
                  </a:cubicBezTo>
                  <a:lnTo>
                    <a:pt x="0" y="40576"/>
                  </a:lnTo>
                  <a:cubicBezTo>
                    <a:pt x="0" y="18167"/>
                    <a:pt x="18167" y="0"/>
                    <a:pt x="40576" y="0"/>
                  </a:cubicBezTo>
                  <a:close/>
                </a:path>
              </a:pathLst>
            </a:custGeom>
            <a:solidFill>
              <a:srgbClr val="F4DE7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125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515521" y="1971230"/>
            <a:ext cx="14771800" cy="8325542"/>
          </a:xfrm>
          <a:custGeom>
            <a:avLst/>
            <a:gdLst/>
            <a:ahLst/>
            <a:cxnLst/>
            <a:rect r="r" b="b" t="t" l="l"/>
            <a:pathLst>
              <a:path h="8325542" w="14771800">
                <a:moveTo>
                  <a:pt x="0" y="0"/>
                </a:moveTo>
                <a:lnTo>
                  <a:pt x="14771801" y="0"/>
                </a:lnTo>
                <a:lnTo>
                  <a:pt x="14771801" y="8325542"/>
                </a:lnTo>
                <a:lnTo>
                  <a:pt x="0" y="8325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5951173" cy="1629728"/>
            <a:chOff x="0" y="0"/>
            <a:chExt cx="7934897" cy="217297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99328"/>
              <a:ext cx="7934897" cy="773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9"/>
                </a:lnSpc>
              </a:pPr>
              <a:r>
                <a:rPr lang="en-US" b="true" sz="3499">
                  <a:solidFill>
                    <a:srgbClr val="3E893E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Main: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7934897" cy="1064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00"/>
                </a:lnSpc>
              </a:pPr>
              <a:r>
                <a:rPr lang="en-US" sz="5000" b="true">
                  <a:solidFill>
                    <a:srgbClr val="222A9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Power Bi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97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7677" y="0"/>
            <a:ext cx="9540008" cy="10287000"/>
            <a:chOff x="0" y="0"/>
            <a:chExt cx="25125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25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12595">
                  <a:moveTo>
                    <a:pt x="40576" y="0"/>
                  </a:moveTo>
                  <a:lnTo>
                    <a:pt x="2472019" y="0"/>
                  </a:lnTo>
                  <a:cubicBezTo>
                    <a:pt x="2494428" y="0"/>
                    <a:pt x="2512595" y="18167"/>
                    <a:pt x="2512595" y="40576"/>
                  </a:cubicBezTo>
                  <a:lnTo>
                    <a:pt x="2512595" y="2668757"/>
                  </a:lnTo>
                  <a:cubicBezTo>
                    <a:pt x="2512595" y="2679519"/>
                    <a:pt x="2508320" y="2689839"/>
                    <a:pt x="2500710" y="2697449"/>
                  </a:cubicBezTo>
                  <a:cubicBezTo>
                    <a:pt x="2493101" y="2705058"/>
                    <a:pt x="2482780" y="2709333"/>
                    <a:pt x="2472019" y="2709333"/>
                  </a:cubicBezTo>
                  <a:lnTo>
                    <a:pt x="40576" y="2709333"/>
                  </a:lnTo>
                  <a:cubicBezTo>
                    <a:pt x="18167" y="2709333"/>
                    <a:pt x="0" y="2691167"/>
                    <a:pt x="0" y="2668757"/>
                  </a:cubicBezTo>
                  <a:lnTo>
                    <a:pt x="0" y="40576"/>
                  </a:lnTo>
                  <a:cubicBezTo>
                    <a:pt x="0" y="18167"/>
                    <a:pt x="18167" y="0"/>
                    <a:pt x="40576" y="0"/>
                  </a:cubicBezTo>
                  <a:close/>
                </a:path>
              </a:pathLst>
            </a:custGeom>
            <a:solidFill>
              <a:srgbClr val="F4DE7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125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532327" y="1991522"/>
            <a:ext cx="14755673" cy="8295478"/>
          </a:xfrm>
          <a:custGeom>
            <a:avLst/>
            <a:gdLst/>
            <a:ahLst/>
            <a:cxnLst/>
            <a:rect r="r" b="b" t="t" l="l"/>
            <a:pathLst>
              <a:path h="8295478" w="14755673">
                <a:moveTo>
                  <a:pt x="0" y="0"/>
                </a:moveTo>
                <a:lnTo>
                  <a:pt x="14755673" y="0"/>
                </a:lnTo>
                <a:lnTo>
                  <a:pt x="14755673" y="8295478"/>
                </a:lnTo>
                <a:lnTo>
                  <a:pt x="0" y="8295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5951173" cy="1629728"/>
            <a:chOff x="0" y="0"/>
            <a:chExt cx="7934897" cy="217297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99328"/>
              <a:ext cx="7934897" cy="773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9"/>
                </a:lnSpc>
              </a:pPr>
              <a:r>
                <a:rPr lang="en-US" b="true" sz="3499">
                  <a:solidFill>
                    <a:srgbClr val="3E893E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Statistical: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7934897" cy="1064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00"/>
                </a:lnSpc>
              </a:pPr>
              <a:r>
                <a:rPr lang="en-US" sz="5000" b="true">
                  <a:solidFill>
                    <a:srgbClr val="222A9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Power Bi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A97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37677" y="0"/>
            <a:ext cx="9540008" cy="10287000"/>
            <a:chOff x="0" y="0"/>
            <a:chExt cx="251259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12595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12595">
                  <a:moveTo>
                    <a:pt x="40576" y="0"/>
                  </a:moveTo>
                  <a:lnTo>
                    <a:pt x="2472019" y="0"/>
                  </a:lnTo>
                  <a:cubicBezTo>
                    <a:pt x="2494428" y="0"/>
                    <a:pt x="2512595" y="18167"/>
                    <a:pt x="2512595" y="40576"/>
                  </a:cubicBezTo>
                  <a:lnTo>
                    <a:pt x="2512595" y="2668757"/>
                  </a:lnTo>
                  <a:cubicBezTo>
                    <a:pt x="2512595" y="2679519"/>
                    <a:pt x="2508320" y="2689839"/>
                    <a:pt x="2500710" y="2697449"/>
                  </a:cubicBezTo>
                  <a:cubicBezTo>
                    <a:pt x="2493101" y="2705058"/>
                    <a:pt x="2482780" y="2709333"/>
                    <a:pt x="2472019" y="2709333"/>
                  </a:cubicBezTo>
                  <a:lnTo>
                    <a:pt x="40576" y="2709333"/>
                  </a:lnTo>
                  <a:cubicBezTo>
                    <a:pt x="18167" y="2709333"/>
                    <a:pt x="0" y="2691167"/>
                    <a:pt x="0" y="2668757"/>
                  </a:cubicBezTo>
                  <a:lnTo>
                    <a:pt x="0" y="40576"/>
                  </a:lnTo>
                  <a:cubicBezTo>
                    <a:pt x="0" y="18167"/>
                    <a:pt x="18167" y="0"/>
                    <a:pt x="40576" y="0"/>
                  </a:cubicBezTo>
                  <a:close/>
                </a:path>
              </a:pathLst>
            </a:custGeom>
            <a:solidFill>
              <a:srgbClr val="F4DE7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1259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515521" y="1971230"/>
            <a:ext cx="14772479" cy="8352860"/>
          </a:xfrm>
          <a:custGeom>
            <a:avLst/>
            <a:gdLst/>
            <a:ahLst/>
            <a:cxnLst/>
            <a:rect r="r" b="b" t="t" l="l"/>
            <a:pathLst>
              <a:path h="8352860" w="14772479">
                <a:moveTo>
                  <a:pt x="0" y="0"/>
                </a:moveTo>
                <a:lnTo>
                  <a:pt x="14772479" y="0"/>
                </a:lnTo>
                <a:lnTo>
                  <a:pt x="14772479" y="8352860"/>
                </a:lnTo>
                <a:lnTo>
                  <a:pt x="0" y="8352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1028700"/>
            <a:ext cx="5951173" cy="1629728"/>
            <a:chOff x="0" y="0"/>
            <a:chExt cx="7934897" cy="217297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99328"/>
              <a:ext cx="7934897" cy="773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99"/>
                </a:lnSpc>
              </a:pPr>
              <a:r>
                <a:rPr lang="en-US" b="true" sz="3499">
                  <a:solidFill>
                    <a:srgbClr val="3E893E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Forecast: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57150"/>
              <a:ext cx="7934897" cy="1064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500"/>
                </a:lnSpc>
              </a:pPr>
              <a:r>
                <a:rPr lang="en-US" sz="5000" b="true">
                  <a:solidFill>
                    <a:srgbClr val="222A9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Power Bi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2930" y="0"/>
            <a:ext cx="11364190" cy="10287000"/>
            <a:chOff x="0" y="0"/>
            <a:chExt cx="299303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9303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993038">
                  <a:moveTo>
                    <a:pt x="34063" y="0"/>
                  </a:moveTo>
                  <a:lnTo>
                    <a:pt x="2958975" y="0"/>
                  </a:lnTo>
                  <a:cubicBezTo>
                    <a:pt x="2968009" y="0"/>
                    <a:pt x="2976673" y="3589"/>
                    <a:pt x="2983061" y="9977"/>
                  </a:cubicBezTo>
                  <a:cubicBezTo>
                    <a:pt x="2989449" y="16365"/>
                    <a:pt x="2993038" y="25029"/>
                    <a:pt x="2993038" y="34063"/>
                  </a:cubicBezTo>
                  <a:lnTo>
                    <a:pt x="2993038" y="2675270"/>
                  </a:lnTo>
                  <a:cubicBezTo>
                    <a:pt x="2993038" y="2684305"/>
                    <a:pt x="2989449" y="2692969"/>
                    <a:pt x="2983061" y="2699357"/>
                  </a:cubicBezTo>
                  <a:cubicBezTo>
                    <a:pt x="2976673" y="2705745"/>
                    <a:pt x="2968009" y="2709333"/>
                    <a:pt x="2958975" y="2709333"/>
                  </a:cubicBezTo>
                  <a:lnTo>
                    <a:pt x="34063" y="2709333"/>
                  </a:lnTo>
                  <a:cubicBezTo>
                    <a:pt x="25029" y="2709333"/>
                    <a:pt x="16365" y="2705745"/>
                    <a:pt x="9977" y="2699357"/>
                  </a:cubicBezTo>
                  <a:cubicBezTo>
                    <a:pt x="3589" y="2692969"/>
                    <a:pt x="0" y="2684305"/>
                    <a:pt x="0" y="2675270"/>
                  </a:cubicBezTo>
                  <a:lnTo>
                    <a:pt x="0" y="34063"/>
                  </a:lnTo>
                  <a:cubicBezTo>
                    <a:pt x="0" y="25029"/>
                    <a:pt x="3589" y="16365"/>
                    <a:pt x="9977" y="9977"/>
                  </a:cubicBezTo>
                  <a:cubicBezTo>
                    <a:pt x="16365" y="3589"/>
                    <a:pt x="25029" y="0"/>
                    <a:pt x="3406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9303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259300" y="9622270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rtl="true">
              <a:lnSpc>
                <a:spcPts val="1960"/>
              </a:lnSpc>
              <a:spcBef>
                <a:spcPct val="0"/>
              </a:spcBef>
            </a:pPr>
            <a:r>
              <a:rPr lang="ar-EG" b="true" sz="1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  <a:rtl val="true"/>
              </a:rPr>
              <a:t>صفحة </a:t>
            </a:r>
            <a:r>
              <a:rPr lang="en-US" b="true" sz="1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391757" y="2042725"/>
            <a:ext cx="8073797" cy="3059960"/>
            <a:chOff x="0" y="0"/>
            <a:chExt cx="2126432" cy="8059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6432" cy="805915"/>
            </a:xfrm>
            <a:custGeom>
              <a:avLst/>
              <a:gdLst/>
              <a:ahLst/>
              <a:cxnLst/>
              <a:rect r="r" b="b" t="t" l="l"/>
              <a:pathLst>
                <a:path h="805915" w="2126432">
                  <a:moveTo>
                    <a:pt x="48904" y="0"/>
                  </a:moveTo>
                  <a:lnTo>
                    <a:pt x="2077528" y="0"/>
                  </a:lnTo>
                  <a:cubicBezTo>
                    <a:pt x="2104537" y="0"/>
                    <a:pt x="2126432" y="21895"/>
                    <a:pt x="2126432" y="48904"/>
                  </a:cubicBezTo>
                  <a:lnTo>
                    <a:pt x="2126432" y="757012"/>
                  </a:lnTo>
                  <a:cubicBezTo>
                    <a:pt x="2126432" y="769982"/>
                    <a:pt x="2121280" y="782421"/>
                    <a:pt x="2112108" y="791592"/>
                  </a:cubicBezTo>
                  <a:cubicBezTo>
                    <a:pt x="2102937" y="800763"/>
                    <a:pt x="2090498" y="805915"/>
                    <a:pt x="2077528" y="805915"/>
                  </a:cubicBezTo>
                  <a:lnTo>
                    <a:pt x="48904" y="805915"/>
                  </a:lnTo>
                  <a:cubicBezTo>
                    <a:pt x="21895" y="805915"/>
                    <a:pt x="0" y="784021"/>
                    <a:pt x="0" y="757012"/>
                  </a:cubicBezTo>
                  <a:lnTo>
                    <a:pt x="0" y="48904"/>
                  </a:lnTo>
                  <a:cubicBezTo>
                    <a:pt x="0" y="21895"/>
                    <a:pt x="21895" y="0"/>
                    <a:pt x="48904" y="0"/>
                  </a:cubicBezTo>
                  <a:close/>
                </a:path>
              </a:pathLst>
            </a:custGeom>
            <a:solidFill>
              <a:srgbClr val="222A9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126432" cy="853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256180" y="5455110"/>
            <a:ext cx="8236290" cy="3059828"/>
            <a:chOff x="0" y="0"/>
            <a:chExt cx="2169229" cy="8058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69229" cy="805881"/>
            </a:xfrm>
            <a:custGeom>
              <a:avLst/>
              <a:gdLst/>
              <a:ahLst/>
              <a:cxnLst/>
              <a:rect r="r" b="b" t="t" l="l"/>
              <a:pathLst>
                <a:path h="805881" w="2169229">
                  <a:moveTo>
                    <a:pt x="47939" y="0"/>
                  </a:moveTo>
                  <a:lnTo>
                    <a:pt x="2121290" y="0"/>
                  </a:lnTo>
                  <a:cubicBezTo>
                    <a:pt x="2147766" y="0"/>
                    <a:pt x="2169229" y="21463"/>
                    <a:pt x="2169229" y="47939"/>
                  </a:cubicBezTo>
                  <a:lnTo>
                    <a:pt x="2169229" y="757942"/>
                  </a:lnTo>
                  <a:cubicBezTo>
                    <a:pt x="2169229" y="784418"/>
                    <a:pt x="2147766" y="805881"/>
                    <a:pt x="2121290" y="805881"/>
                  </a:cubicBezTo>
                  <a:lnTo>
                    <a:pt x="47939" y="805881"/>
                  </a:lnTo>
                  <a:cubicBezTo>
                    <a:pt x="21463" y="805881"/>
                    <a:pt x="0" y="784418"/>
                    <a:pt x="0" y="757942"/>
                  </a:cubicBezTo>
                  <a:lnTo>
                    <a:pt x="0" y="47939"/>
                  </a:lnTo>
                  <a:cubicBezTo>
                    <a:pt x="0" y="21463"/>
                    <a:pt x="21463" y="0"/>
                    <a:pt x="47939" y="0"/>
                  </a:cubicBezTo>
                  <a:close/>
                </a:path>
              </a:pathLst>
            </a:custGeom>
            <a:solidFill>
              <a:srgbClr val="5CAD5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169229" cy="853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497136" y="849589"/>
            <a:ext cx="1141318" cy="1114526"/>
          </a:xfrm>
          <a:custGeom>
            <a:avLst/>
            <a:gdLst/>
            <a:ahLst/>
            <a:cxnLst/>
            <a:rect r="r" b="b" t="t" l="l"/>
            <a:pathLst>
              <a:path h="1114526" w="1141318">
                <a:moveTo>
                  <a:pt x="0" y="0"/>
                </a:moveTo>
                <a:lnTo>
                  <a:pt x="1141318" y="0"/>
                </a:lnTo>
                <a:lnTo>
                  <a:pt x="1141318" y="1114526"/>
                </a:lnTo>
                <a:lnTo>
                  <a:pt x="0" y="1114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766003" y="8830302"/>
            <a:ext cx="2980354" cy="2910393"/>
          </a:xfrm>
          <a:custGeom>
            <a:avLst/>
            <a:gdLst/>
            <a:ahLst/>
            <a:cxnLst/>
            <a:rect r="r" b="b" t="t" l="l"/>
            <a:pathLst>
              <a:path h="2910393" w="2980354">
                <a:moveTo>
                  <a:pt x="0" y="0"/>
                </a:moveTo>
                <a:lnTo>
                  <a:pt x="2980354" y="0"/>
                </a:lnTo>
                <a:lnTo>
                  <a:pt x="2980354" y="2910393"/>
                </a:lnTo>
                <a:lnTo>
                  <a:pt x="0" y="29103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802689" y="-318213"/>
            <a:ext cx="854319" cy="855996"/>
          </a:xfrm>
          <a:custGeom>
            <a:avLst/>
            <a:gdLst/>
            <a:ahLst/>
            <a:cxnLst/>
            <a:rect r="r" b="b" t="t" l="l"/>
            <a:pathLst>
              <a:path h="855996" w="854319">
                <a:moveTo>
                  <a:pt x="0" y="0"/>
                </a:moveTo>
                <a:lnTo>
                  <a:pt x="854320" y="0"/>
                </a:lnTo>
                <a:lnTo>
                  <a:pt x="854320" y="855996"/>
                </a:lnTo>
                <a:lnTo>
                  <a:pt x="0" y="855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15777" r="-295051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078851" y="6531491"/>
            <a:ext cx="854319" cy="855996"/>
          </a:xfrm>
          <a:custGeom>
            <a:avLst/>
            <a:gdLst/>
            <a:ahLst/>
            <a:cxnLst/>
            <a:rect r="r" b="b" t="t" l="l"/>
            <a:pathLst>
              <a:path h="855996" w="854319">
                <a:moveTo>
                  <a:pt x="0" y="0"/>
                </a:moveTo>
                <a:lnTo>
                  <a:pt x="854319" y="0"/>
                </a:lnTo>
                <a:lnTo>
                  <a:pt x="854319" y="855996"/>
                </a:lnTo>
                <a:lnTo>
                  <a:pt x="0" y="855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15777" r="-295051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-611225" y="6659877"/>
            <a:ext cx="1208411" cy="2623231"/>
            <a:chOff x="0" y="0"/>
            <a:chExt cx="318265" cy="6908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8265" cy="690892"/>
            </a:xfrm>
            <a:custGeom>
              <a:avLst/>
              <a:gdLst/>
              <a:ahLst/>
              <a:cxnLst/>
              <a:rect r="r" b="b" t="t" l="l"/>
              <a:pathLst>
                <a:path h="690892" w="318265">
                  <a:moveTo>
                    <a:pt x="128134" y="0"/>
                  </a:moveTo>
                  <a:lnTo>
                    <a:pt x="190131" y="0"/>
                  </a:lnTo>
                  <a:cubicBezTo>
                    <a:pt x="260897" y="0"/>
                    <a:pt x="318265" y="57368"/>
                    <a:pt x="318265" y="128134"/>
                  </a:cubicBezTo>
                  <a:lnTo>
                    <a:pt x="318265" y="562758"/>
                  </a:lnTo>
                  <a:cubicBezTo>
                    <a:pt x="318265" y="596741"/>
                    <a:pt x="304765" y="629333"/>
                    <a:pt x="280735" y="653363"/>
                  </a:cubicBezTo>
                  <a:cubicBezTo>
                    <a:pt x="256705" y="677392"/>
                    <a:pt x="224114" y="690892"/>
                    <a:pt x="190131" y="690892"/>
                  </a:cubicBezTo>
                  <a:lnTo>
                    <a:pt x="128134" y="690892"/>
                  </a:lnTo>
                  <a:cubicBezTo>
                    <a:pt x="94151" y="690892"/>
                    <a:pt x="61559" y="677392"/>
                    <a:pt x="37530" y="653363"/>
                  </a:cubicBezTo>
                  <a:cubicBezTo>
                    <a:pt x="13500" y="629333"/>
                    <a:pt x="0" y="596741"/>
                    <a:pt x="0" y="562758"/>
                  </a:cubicBezTo>
                  <a:lnTo>
                    <a:pt x="0" y="128134"/>
                  </a:lnTo>
                  <a:cubicBezTo>
                    <a:pt x="0" y="94151"/>
                    <a:pt x="13500" y="61559"/>
                    <a:pt x="37530" y="37530"/>
                  </a:cubicBezTo>
                  <a:cubicBezTo>
                    <a:pt x="61559" y="13500"/>
                    <a:pt x="94151" y="0"/>
                    <a:pt x="128134" y="0"/>
                  </a:cubicBez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18265" cy="728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043909" y="2350462"/>
            <a:ext cx="929885" cy="929885"/>
          </a:xfrm>
          <a:custGeom>
            <a:avLst/>
            <a:gdLst/>
            <a:ahLst/>
            <a:cxnLst/>
            <a:rect r="r" b="b" t="t" l="l"/>
            <a:pathLst>
              <a:path h="929885" w="929885">
                <a:moveTo>
                  <a:pt x="0" y="0"/>
                </a:moveTo>
                <a:lnTo>
                  <a:pt x="929885" y="0"/>
                </a:lnTo>
                <a:lnTo>
                  <a:pt x="929885" y="929885"/>
                </a:lnTo>
                <a:lnTo>
                  <a:pt x="0" y="929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057648" y="5968375"/>
            <a:ext cx="633310" cy="796617"/>
          </a:xfrm>
          <a:custGeom>
            <a:avLst/>
            <a:gdLst/>
            <a:ahLst/>
            <a:cxnLst/>
            <a:rect r="r" b="b" t="t" l="l"/>
            <a:pathLst>
              <a:path h="796617" w="633310">
                <a:moveTo>
                  <a:pt x="0" y="0"/>
                </a:moveTo>
                <a:lnTo>
                  <a:pt x="633310" y="0"/>
                </a:lnTo>
                <a:lnTo>
                  <a:pt x="633310" y="796617"/>
                </a:lnTo>
                <a:lnTo>
                  <a:pt x="0" y="7966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49660" y="1368752"/>
            <a:ext cx="4602518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99B1F6"/>
                </a:soli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Project Links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43909" y="3581717"/>
            <a:ext cx="704598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https://github.com/Abdalla820/E-Commerce-Sales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71567" y="7349387"/>
            <a:ext cx="772090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https://www.kaggle.com/datasets/prince7489/e-commerce-sales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48457" y="2588709"/>
            <a:ext cx="328767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Github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91420" y="6140022"/>
            <a:ext cx="282224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Kaggle Dataset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2100" y="1465819"/>
            <a:ext cx="4973020" cy="7792481"/>
          </a:xfrm>
          <a:custGeom>
            <a:avLst/>
            <a:gdLst/>
            <a:ahLst/>
            <a:cxnLst/>
            <a:rect r="r" b="b" t="t" l="l"/>
            <a:pathLst>
              <a:path h="7792481" w="4973020">
                <a:moveTo>
                  <a:pt x="0" y="0"/>
                </a:moveTo>
                <a:lnTo>
                  <a:pt x="4973020" y="0"/>
                </a:lnTo>
                <a:lnTo>
                  <a:pt x="4973020" y="7792481"/>
                </a:lnTo>
                <a:lnTo>
                  <a:pt x="0" y="7792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783427" y="5578384"/>
            <a:ext cx="6492240" cy="0"/>
          </a:xfrm>
          <a:prstGeom prst="line">
            <a:avLst/>
          </a:prstGeom>
          <a:ln cap="flat" w="38100">
            <a:solidFill>
              <a:srgbClr val="222A9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>
            <a:hlinkClick r:id="rId6" tooltip="https://github.com/Abdalla820"/>
          </p:cNvPr>
          <p:cNvSpPr/>
          <p:nvPr/>
        </p:nvSpPr>
        <p:spPr>
          <a:xfrm flipH="false" flipV="false" rot="0">
            <a:off x="8744232" y="6702501"/>
            <a:ext cx="1963271" cy="1963271"/>
          </a:xfrm>
          <a:custGeom>
            <a:avLst/>
            <a:gdLst/>
            <a:ahLst/>
            <a:cxnLst/>
            <a:rect r="r" b="b" t="t" l="l"/>
            <a:pathLst>
              <a:path h="1963271" w="1963271">
                <a:moveTo>
                  <a:pt x="0" y="0"/>
                </a:moveTo>
                <a:lnTo>
                  <a:pt x="1963270" y="0"/>
                </a:lnTo>
                <a:lnTo>
                  <a:pt x="1963270" y="1963270"/>
                </a:lnTo>
                <a:lnTo>
                  <a:pt x="0" y="1963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54941" y="6947130"/>
            <a:ext cx="2010106" cy="1718641"/>
          </a:xfrm>
          <a:custGeom>
            <a:avLst/>
            <a:gdLst/>
            <a:ahLst/>
            <a:cxnLst/>
            <a:rect r="r" b="b" t="t" l="l"/>
            <a:pathLst>
              <a:path h="1718641" w="2010106">
                <a:moveTo>
                  <a:pt x="0" y="0"/>
                </a:moveTo>
                <a:lnTo>
                  <a:pt x="2010106" y="0"/>
                </a:lnTo>
                <a:lnTo>
                  <a:pt x="2010106" y="1718641"/>
                </a:lnTo>
                <a:lnTo>
                  <a:pt x="0" y="17186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615093" y="1465819"/>
            <a:ext cx="4828908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99"/>
              </a:lnSpc>
            </a:pPr>
            <a:r>
              <a:rPr lang="en-US" sz="7999" b="true">
                <a:solidFill>
                  <a:srgbClr val="222A9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9622270"/>
            <a:ext cx="152400" cy="1809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l" rtl="true">
              <a:lnSpc>
                <a:spcPts val="1960"/>
              </a:lnSpc>
              <a:spcBef>
                <a:spcPct val="0"/>
              </a:spcBef>
            </a:pPr>
            <a:r>
              <a:rPr lang="ar-EG" b="true" sz="1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  <a:rtl val="true"/>
              </a:rPr>
              <a:t>صفحة </a:t>
            </a:r>
            <a:r>
              <a:rPr lang="en-US" b="true" sz="140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04865" y="4721225"/>
            <a:ext cx="284936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To contact With Me: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16615" y="6918555"/>
            <a:ext cx="2010106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 u="sng">
                <a:solidFill>
                  <a:srgbClr val="F1F1F1"/>
                </a:solidFill>
                <a:latin typeface="HK Grotesk Bold"/>
                <a:ea typeface="HK Grotesk Bold"/>
                <a:cs typeface="HK Grotesk Bold"/>
                <a:sym typeface="HK Grotesk Bold"/>
                <a:hlinkClick r:id="rId9" tooltip="https://linkedin.com/in/abdalla-mohamed-farouk"/>
              </a:rPr>
              <a:t>Linked 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DAHYduOSGZM</dc:identifier>
  <dcterms:modified xsi:type="dcterms:W3CDTF">2011-08-01T06:04:30Z</dcterms:modified>
  <cp:revision>1</cp:revision>
  <dc:title>E-Commerce Sales</dc:title>
</cp:coreProperties>
</file>